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Bold" panose="00000800000000000000" charset="0"/>
      <p:bold r:id="rId24"/>
    </p:embeddedFont>
    <p:embeddedFont>
      <p:font typeface="Poppins Semi-Bold" panose="020B0604020202020204" charset="0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2F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60" d="100"/>
          <a:sy n="60" d="100"/>
        </p:scale>
        <p:origin x="370" y="67"/>
      </p:cViewPr>
      <p:guideLst>
        <p:guide orient="horz" pos="2158"/>
        <p:guide pos="28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686685" y="1447903"/>
            <a:ext cx="13067030" cy="787698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en-IN" sz="7200" b="1" dirty="0">
                <a:latin typeface="Cambria"/>
                <a:ea typeface="+mn-lt"/>
                <a:cs typeface="+mn-lt"/>
                <a:sym typeface="+mn-ea"/>
              </a:rPr>
              <a:t>DISASTER TWEET CLASSIFICATION USING MACHINE LEARNING</a:t>
            </a:r>
            <a:endParaRPr lang="en-US" sz="7200">
              <a:latin typeface="Cambria"/>
              <a:ea typeface="Cambria"/>
            </a:endParaRPr>
          </a:p>
          <a:p>
            <a:pPr algn="ctr">
              <a:lnSpc>
                <a:spcPts val="10920"/>
              </a:lnSpc>
            </a:pPr>
            <a:endParaRPr lang="en-US" sz="7200" b="1" spc="-701">
              <a:solidFill>
                <a:srgbClr val="1C2120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78417" y="5405051"/>
            <a:ext cx="8841551" cy="1331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altLang="en-US" sz="2800" b="1" dirty="0">
                <a:latin typeface="Arial"/>
                <a:cs typeface="Arial"/>
                <a:sym typeface="+mn-ea"/>
              </a:rPr>
              <a:t>MOHAMED RAYYAN M</a:t>
            </a:r>
            <a:endParaRPr lang="en-IN" altLang="en-US" sz="2800" b="1" dirty="0">
              <a:latin typeface="Arial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n-IN" altLang="en-US" sz="2800" b="1" dirty="0">
                <a:latin typeface="Arial"/>
                <a:cs typeface="Arial"/>
                <a:sym typeface="+mn-ea"/>
              </a:rPr>
              <a:t>B.TECH AI&amp;DS -‘B’ SECTION</a:t>
            </a:r>
            <a:endParaRPr lang="en-IN" altLang="en-US" sz="2800" b="1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>
              <a:lnSpc>
                <a:spcPts val="3445"/>
              </a:lnSpc>
            </a:pPr>
            <a:endParaRPr lang="en-US" sz="2000" b="1" spc="-68" dirty="0">
              <a:latin typeface="Poppins" panose="00000500000000000000"/>
              <a:ea typeface="Poppins" panose="00000500000000000000"/>
              <a:cs typeface="Poppins" panose="00000500000000000000"/>
            </a:endParaRPr>
          </a:p>
        </p:txBody>
      </p:sp>
      <p:pic>
        <p:nvPicPr>
          <p:cNvPr id="11" name="Picture 10" descr="crescent log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0" y="342900"/>
            <a:ext cx="2295525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177828" y="13832"/>
            <a:ext cx="7293610" cy="11995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7935"/>
              </a:lnSpc>
            </a:pPr>
            <a:r>
              <a:rPr lang="en-IN" altLang="en-US" sz="4400" b="1" dirty="0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</a:t>
            </a:r>
            <a:r>
              <a:rPr lang="en-IN" altLang="en-US" sz="4400" b="1" dirty="0">
                <a:solidFill>
                  <a:srgbClr val="7030A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 </a:t>
            </a: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ABOUT THE COMPANY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919480" y="1075221"/>
            <a:ext cx="16836390" cy="2400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/>
            <a:r>
              <a:rPr lang="en-US" altLang="en-US" sz="2800" b="1" dirty="0">
                <a:latin typeface="Cambria"/>
                <a:ea typeface="Cambria"/>
                <a:cs typeface="Cambria" panose="02040503050406030204" charset="0"/>
              </a:rPr>
              <a:t>Brief Overview</a:t>
            </a:r>
            <a:r>
              <a:rPr lang="en-IN" altLang="en-US" sz="2800" b="1" dirty="0">
                <a:latin typeface="Cambria"/>
                <a:ea typeface="Cambria"/>
                <a:cs typeface="Cambria" panose="02040503050406030204" charset="0"/>
              </a:rPr>
              <a:t> of the organization : Mission and vision</a:t>
            </a:r>
            <a:endParaRPr lang="en-US" altLang="en-US" sz="2800" b="1" dirty="0">
              <a:latin typeface="Cambria"/>
              <a:ea typeface="Cambria"/>
              <a:cs typeface="Cambria" panose="0204050305040603020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Cambria"/>
                <a:ea typeface="+mn-lt"/>
                <a:cs typeface="+mn-lt"/>
              </a:rPr>
              <a:t>SkillForge</a:t>
            </a:r>
            <a:r>
              <a:rPr lang="en-US" sz="2600" dirty="0">
                <a:latin typeface="Cambria"/>
                <a:ea typeface="+mn-lt"/>
                <a:cs typeface="+mn-lt"/>
              </a:rPr>
              <a:t> is a leading e-learning company specializing in </a:t>
            </a:r>
            <a:r>
              <a:rPr lang="en-US" sz="2600" i="1" dirty="0">
                <a:latin typeface="Cambria"/>
                <a:ea typeface="+mn-lt"/>
                <a:cs typeface="+mn-lt"/>
              </a:rPr>
              <a:t>Data Science, Artificial Intelligence,</a:t>
            </a:r>
            <a:r>
              <a:rPr lang="en-US" sz="2600" dirty="0">
                <a:latin typeface="Cambria"/>
                <a:ea typeface="+mn-lt"/>
                <a:cs typeface="+mn-lt"/>
              </a:rPr>
              <a:t> and </a:t>
            </a:r>
            <a:r>
              <a:rPr lang="en-US" sz="2600" i="1" dirty="0">
                <a:latin typeface="Cambria"/>
                <a:ea typeface="+mn-lt"/>
                <a:cs typeface="+mn-lt"/>
              </a:rPr>
              <a:t>Machine Learning</a:t>
            </a:r>
            <a:r>
              <a:rPr lang="en-US" sz="2600" dirty="0">
                <a:latin typeface="Cambria"/>
                <a:ea typeface="+mn-lt"/>
                <a:cs typeface="+mn-lt"/>
              </a:rPr>
              <a:t> training programs.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It focuses on </a:t>
            </a:r>
            <a:r>
              <a:rPr lang="en-US" sz="2600" b="1" dirty="0">
                <a:latin typeface="Cambria"/>
                <a:ea typeface="+mn-lt"/>
                <a:cs typeface="+mn-lt"/>
              </a:rPr>
              <a:t>hands-on projects</a:t>
            </a:r>
            <a:r>
              <a:rPr lang="en-US" sz="2600" dirty="0">
                <a:latin typeface="Cambria"/>
                <a:ea typeface="+mn-lt"/>
                <a:cs typeface="+mn-lt"/>
              </a:rPr>
              <a:t> to  bridge the gap between academic concepts and industrial applications.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Cambria"/>
                <a:ea typeface="Cambria"/>
              </a:rPr>
              <a:t>Mission:</a:t>
            </a:r>
            <a:r>
              <a:rPr lang="en-US" sz="2600" dirty="0">
                <a:latin typeface="Cambria"/>
                <a:ea typeface="Cambria"/>
              </a:rPr>
              <a:t> To deliver project-based learning that transforms students into data-driven professionals equipped with analytical and technical skills.</a:t>
            </a:r>
            <a:endParaRPr lang="en-US" sz="2600">
              <a:latin typeface="Cambria"/>
              <a:ea typeface="Cambria"/>
              <a:cs typeface="Calibri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Cambria"/>
                <a:ea typeface="Cambria"/>
              </a:rPr>
              <a:t>Vision: </a:t>
            </a:r>
            <a:r>
              <a:rPr lang="en-US" sz="2600" dirty="0">
                <a:latin typeface="Cambria"/>
                <a:ea typeface="Cambria"/>
              </a:rPr>
              <a:t>To empower learners with real-world AI experience through guided internships and mentorship-driven education.</a:t>
            </a:r>
            <a:endParaRPr lang="en-US" sz="2600" dirty="0">
              <a:latin typeface="Cambria"/>
              <a:ea typeface="Cambria"/>
              <a:cs typeface="Calibri"/>
            </a:endParaRPr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800" dirty="0">
                <a:latin typeface="Cambria"/>
                <a:ea typeface="Cambria"/>
                <a:cs typeface="Cambria" panose="02040503050406030204" charset="0"/>
              </a:rPr>
              <a:t> </a:t>
            </a:r>
            <a:r>
              <a:rPr lang="en-US" altLang="en-US" sz="2800" b="1" dirty="0">
                <a:latin typeface="Cambria"/>
                <a:ea typeface="Cambria"/>
                <a:cs typeface="Cambria" panose="02040503050406030204" charset="0"/>
              </a:rPr>
              <a:t>Key Services / Products: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Data Science &amp; AI Training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Python-based Machine Learning Projects</a:t>
            </a:r>
            <a:endParaRPr lang="en-US" sz="2600" dirty="0">
              <a:latin typeface="Cambria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Internship Certification &amp; Mentorship Programs</a:t>
            </a:r>
            <a:endParaRPr lang="en-US" sz="2600" dirty="0">
              <a:latin typeface="Cambria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latin typeface="Cambria"/>
                <a:ea typeface="Cambria"/>
                <a:cs typeface="+mn-lt"/>
              </a:rPr>
              <a:t>Core Expertise: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Data Analytics &amp; Visualization,</a:t>
            </a:r>
            <a:r>
              <a:rPr lang="en-US" sz="2600" dirty="0">
                <a:latin typeface="Calibri"/>
                <a:ea typeface="Calibri"/>
                <a:cs typeface="+mn-lt"/>
              </a:rPr>
              <a:t> </a:t>
            </a:r>
            <a:r>
              <a:rPr lang="en-US" sz="2600" dirty="0">
                <a:latin typeface="Cambria"/>
                <a:ea typeface="Cambria"/>
                <a:cs typeface="+mn-lt"/>
              </a:rPr>
              <a:t>NLP and AI systems</a:t>
            </a:r>
            <a:endParaRPr lang="en-US" sz="2600" dirty="0">
              <a:latin typeface="Cambria"/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Machine Learning &amp; Deep Learning</a:t>
            </a:r>
            <a:endParaRPr lang="en-US" sz="2600">
              <a:latin typeface="Cambria"/>
              <a:ea typeface="Cambria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600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altLang="en-US" sz="2800" b="1" dirty="0">
              <a:latin typeface="Cambria" panose="02040503050406030204" charset="0"/>
              <a:ea typeface="Cambria"/>
              <a:cs typeface="Calibri"/>
            </a:endParaRPr>
          </a:p>
          <a:p>
            <a:endParaRPr lang="en-US" altLang="en-US" sz="2800">
              <a:latin typeface="Cambria" panose="02040503050406030204" charset="0"/>
              <a:ea typeface="Cambria" panose="02040503050406030204" charset="0"/>
              <a:cs typeface="Calibri"/>
            </a:endParaRPr>
          </a:p>
        </p:txBody>
      </p:sp>
      <p:pic>
        <p:nvPicPr>
          <p:cNvPr id="2" name="Picture 1" descr="crescent logo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6652" y="190500"/>
            <a:ext cx="2295525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208722" y="-217005"/>
            <a:ext cx="8537575" cy="15684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9660"/>
              </a:lnSpc>
            </a:pPr>
            <a:r>
              <a:rPr lang="en-IN" altLang="en-US" sz="4400" b="1" dirty="0">
                <a:solidFill>
                  <a:srgbClr val="1C212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</a:t>
            </a: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ABOUT THE INTERNSHIP</a:t>
            </a:r>
          </a:p>
        </p:txBody>
      </p:sp>
      <p:sp>
        <p:nvSpPr>
          <p:cNvPr id="28" name="Text Box 27"/>
          <p:cNvSpPr txBox="1"/>
          <p:nvPr/>
        </p:nvSpPr>
        <p:spPr>
          <a:xfrm>
            <a:off x="2191385" y="826121"/>
            <a:ext cx="14539595" cy="30759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endParaRPr lang="en-IN" altLang="en-US" sz="2600" b="1" dirty="0">
              <a:solidFill>
                <a:srgbClr val="7030A0"/>
              </a:solidFill>
              <a:latin typeface="Cambria"/>
              <a:ea typeface="Cambria"/>
              <a:cs typeface="Cambria" panose="0204050305040603020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To gain hands-on experience in </a:t>
            </a:r>
            <a:r>
              <a:rPr lang="en-US" sz="2600" b="1" dirty="0">
                <a:latin typeface="Cambria"/>
                <a:ea typeface="+mn-lt"/>
                <a:cs typeface="+mn-lt"/>
              </a:rPr>
              <a:t>Machine Learning and Natural Language Processing (NLP)</a:t>
            </a:r>
            <a:r>
              <a:rPr lang="en-US" sz="2600" dirty="0">
                <a:latin typeface="Cambria"/>
                <a:ea typeface="+mn-lt"/>
                <a:cs typeface="+mn-lt"/>
              </a:rPr>
              <a:t> through real-time data analysis.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To understand the </a:t>
            </a:r>
            <a:r>
              <a:rPr lang="en-US" sz="2600" b="1" dirty="0">
                <a:latin typeface="Cambria"/>
                <a:ea typeface="+mn-lt"/>
                <a:cs typeface="+mn-lt"/>
              </a:rPr>
              <a:t>complete data science workflow</a:t>
            </a:r>
            <a:r>
              <a:rPr lang="en-US" sz="2600" dirty="0">
                <a:latin typeface="Cambria"/>
                <a:ea typeface="+mn-lt"/>
                <a:cs typeface="+mn-lt"/>
              </a:rPr>
              <a:t> — data collection, preprocessing, feature extraction, model building, and evaluation.</a:t>
            </a:r>
            <a:endParaRPr lang="en-US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To bridge the gap between </a:t>
            </a:r>
            <a:r>
              <a:rPr lang="en-US" sz="2600" b="1" dirty="0">
                <a:latin typeface="Cambria"/>
                <a:ea typeface="+mn-lt"/>
                <a:cs typeface="+mn-lt"/>
              </a:rPr>
              <a:t>academic learning and industrial practices</a:t>
            </a:r>
            <a:r>
              <a:rPr lang="en-US" sz="2600" dirty="0">
                <a:latin typeface="Cambria"/>
                <a:ea typeface="+mn-lt"/>
                <a:cs typeface="+mn-lt"/>
              </a:rPr>
              <a:t> by applying Python and ML techniques on a live dataset.</a:t>
            </a:r>
            <a:endParaRPr lang="en-US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To acquire an understanding of how </a:t>
            </a:r>
            <a:r>
              <a:rPr lang="en-US" sz="2600" b="1" dirty="0">
                <a:latin typeface="Cambria"/>
                <a:ea typeface="+mn-lt"/>
                <a:cs typeface="+mn-lt"/>
              </a:rPr>
              <a:t>machine learning solutions</a:t>
            </a:r>
            <a:r>
              <a:rPr lang="en-US" sz="2600" dirty="0">
                <a:latin typeface="Cambria"/>
                <a:ea typeface="+mn-lt"/>
                <a:cs typeface="+mn-lt"/>
              </a:rPr>
              <a:t> are used to address real-world problems like disaster detection from tweets.</a:t>
            </a:r>
            <a:endParaRPr lang="en-US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600">
              <a:latin typeface="Cambria"/>
              <a:ea typeface="Cambria"/>
              <a:cs typeface="Cambria" panose="0204050305040603020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94082" y="6107490"/>
            <a:ext cx="12298680" cy="6060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2600" b="1" dirty="0">
                <a:latin typeface="Cambria"/>
                <a:ea typeface="Cambria"/>
                <a:cs typeface="Calibri"/>
              </a:rPr>
              <a:t>2.Personal Goals &amp; Professional Growth:</a:t>
            </a:r>
            <a:endParaRPr lang="en-US" sz="2600" dirty="0">
              <a:latin typeface="Cambria"/>
              <a:ea typeface="Cambria"/>
              <a:cs typeface="Calibri"/>
            </a:endParaRPr>
          </a:p>
          <a:p>
            <a:endParaRPr lang="en-US" sz="2600" dirty="0">
              <a:solidFill>
                <a:srgbClr val="000000"/>
              </a:solidFill>
              <a:latin typeface="Cambria" panose="02040503050406030204" charset="0"/>
              <a:ea typeface="Cambria"/>
              <a:cs typeface="Calibri"/>
            </a:endParaRPr>
          </a:p>
          <a:p>
            <a:endParaRPr lang="en-US" sz="2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endParaRPr lang="en-US" sz="2600" dirty="0">
              <a:solidFill>
                <a:srgbClr val="000000"/>
              </a:solidFill>
              <a:latin typeface="Cambria" panose="02040503050406030204" charset="0"/>
              <a:ea typeface="Cambria"/>
              <a:cs typeface="Cambria" panose="02040503050406030204" charset="0"/>
            </a:endParaRPr>
          </a:p>
          <a:p>
            <a:endParaRPr lang="en-US" altLang="en-US" sz="2600" b="1" dirty="0">
              <a:solidFill>
                <a:srgbClr val="7030A0"/>
              </a:solidFill>
              <a:latin typeface="Cambria" panose="02040503050406030204" charset="0"/>
              <a:ea typeface="Cambria"/>
              <a:cs typeface="Cambria" panose="02040503050406030204" charset="0"/>
            </a:endParaRPr>
          </a:p>
        </p:txBody>
      </p:sp>
      <p:pic>
        <p:nvPicPr>
          <p:cNvPr id="2" name="Picture 1" descr="crescent log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087" y="134178"/>
            <a:ext cx="2295525" cy="619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E3356-A14E-331A-0A3D-5C516898B913}"/>
              </a:ext>
            </a:extLst>
          </p:cNvPr>
          <p:cNvSpPr txBox="1"/>
          <p:nvPr/>
        </p:nvSpPr>
        <p:spPr>
          <a:xfrm>
            <a:off x="2186120" y="6641943"/>
            <a:ext cx="14549064" cy="42192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Strengthened expertise in </a:t>
            </a:r>
            <a:r>
              <a:rPr lang="en-US" sz="2600" b="1" dirty="0">
                <a:latin typeface="Cambria"/>
                <a:ea typeface="+mn-lt"/>
                <a:cs typeface="+mn-lt"/>
              </a:rPr>
              <a:t>Python programming</a:t>
            </a:r>
            <a:r>
              <a:rPr lang="en-US" sz="2600" dirty="0">
                <a:latin typeface="Cambria"/>
                <a:ea typeface="+mn-lt"/>
                <a:cs typeface="+mn-lt"/>
              </a:rPr>
              <a:t>, data handling, and ML model development.</a:t>
            </a:r>
            <a:endParaRPr lang="en-US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Improved problem-solving skills through practical experimentation with multiple algorithms (Logistic Regression, Naïve Bayes, KNN).</a:t>
            </a:r>
            <a:endParaRPr lang="en-US" dirty="0">
              <a:latin typeface="Cambria"/>
              <a:ea typeface="Cambria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Developed the ability to </a:t>
            </a:r>
            <a:r>
              <a:rPr lang="en-US" sz="2600" b="1" dirty="0">
                <a:latin typeface="Cambria"/>
                <a:ea typeface="+mn-lt"/>
                <a:cs typeface="+mn-lt"/>
              </a:rPr>
              <a:t>analyze, interpret, and visualize</a:t>
            </a:r>
            <a:r>
              <a:rPr lang="en-US" sz="2600" dirty="0">
                <a:latin typeface="Cambria"/>
                <a:ea typeface="+mn-lt"/>
                <a:cs typeface="+mn-lt"/>
              </a:rPr>
              <a:t> large text-based datasets effectively.</a:t>
            </a:r>
            <a:endParaRPr lang="en-US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Gained confidence to </a:t>
            </a:r>
            <a:r>
              <a:rPr lang="en-US" sz="2600" b="1" dirty="0">
                <a:latin typeface="Cambria"/>
                <a:ea typeface="+mn-lt"/>
                <a:cs typeface="+mn-lt"/>
              </a:rPr>
              <a:t>apply machine learning concepts</a:t>
            </a:r>
            <a:r>
              <a:rPr lang="en-US" sz="2600" dirty="0">
                <a:latin typeface="Cambria"/>
                <a:ea typeface="+mn-lt"/>
                <a:cs typeface="+mn-lt"/>
              </a:rPr>
              <a:t> in real-time projects and pursue a career in data analytics and AI.</a:t>
            </a:r>
            <a:endParaRPr lang="en-US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latin typeface="Cambria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092DE-42BD-C325-8322-D1AA669130CA}"/>
              </a:ext>
            </a:extLst>
          </p:cNvPr>
          <p:cNvSpPr txBox="1"/>
          <p:nvPr/>
        </p:nvSpPr>
        <p:spPr>
          <a:xfrm>
            <a:off x="211950" y="921713"/>
            <a:ext cx="11253223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dirty="0">
                <a:latin typeface="Cambria"/>
                <a:ea typeface="Cambria"/>
              </a:rPr>
              <a:t>1.Learning Objectives</a:t>
            </a:r>
            <a:r>
              <a:rPr lang="en-IN" sz="2600" b="1" dirty="0">
                <a:solidFill>
                  <a:srgbClr val="7030A0"/>
                </a:solidFill>
                <a:latin typeface="Cambria"/>
                <a:ea typeface="Cambria"/>
              </a:rPr>
              <a:t>: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228600" y="-13169"/>
            <a:ext cx="8097520" cy="133731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9050"/>
              </a:lnSpc>
            </a:pPr>
            <a:r>
              <a:rPr 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</a:t>
            </a: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NTERNSHIP OFFER LETTER</a:t>
            </a:r>
            <a:endParaRPr lang="en-IN" altLang="en-US" sz="4400" b="1" dirty="0">
              <a:latin typeface="Poppins Bold" panose="00000800000000000000"/>
              <a:ea typeface="Poppins Bold" panose="00000800000000000000"/>
              <a:cs typeface="Poppins Bold" panose="00000800000000000000"/>
            </a:endParaRPr>
          </a:p>
        </p:txBody>
      </p:sp>
      <p:sp>
        <p:nvSpPr>
          <p:cNvPr id="27" name="TextBox 27"/>
          <p:cNvSpPr txBox="1"/>
          <p:nvPr>
            <p:custDataLst>
              <p:tags r:id="rId1"/>
            </p:custDataLst>
          </p:nvPr>
        </p:nvSpPr>
        <p:spPr>
          <a:xfrm>
            <a:off x="13489830" y="7778025"/>
            <a:ext cx="3658314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0"/>
              </a:lnSpc>
              <a:spcBef>
                <a:spcPct val="0"/>
              </a:spcBef>
            </a:pPr>
            <a:r>
              <a:rPr lang="en-US" sz="1880" u="none" spc="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pic>
        <p:nvPicPr>
          <p:cNvPr id="2" name="Picture 1" descr="crescent logo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200" y="295910"/>
            <a:ext cx="2295525" cy="6191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C4159-E308-C381-C88A-3B865B53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AB5FC-EE34-E48C-B94E-ADA5400CE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199" y="1503680"/>
            <a:ext cx="5341215" cy="7602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 txBox="1"/>
          <p:nvPr/>
        </p:nvSpPr>
        <p:spPr>
          <a:xfrm>
            <a:off x="-216535" y="-13363"/>
            <a:ext cx="10083165" cy="15868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457200" algn="l">
              <a:lnSpc>
                <a:spcPts val="9660"/>
              </a:lnSpc>
            </a:pP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ROLES AND RESPONSIBILITIES</a:t>
            </a:r>
            <a:endParaRPr lang="en-IN" altLang="en-US" sz="4400" b="1" dirty="0">
              <a:latin typeface="Poppins Bold" panose="00000800000000000000"/>
              <a:ea typeface="Poppins Bold" panose="00000800000000000000"/>
              <a:cs typeface="Poppins Bold" panose="0000080000000000000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977044" y="1385539"/>
            <a:ext cx="15794355" cy="68548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Analyzed and understood the disaster </a:t>
            </a:r>
            <a:r>
              <a:rPr lang="en-US" sz="2800" dirty="0">
                <a:latin typeface="Cambria"/>
                <a:ea typeface="+mn-lt"/>
                <a:cs typeface="+mn-lt"/>
              </a:rPr>
              <a:t>tweet </a:t>
            </a: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dataset for classification.</a:t>
            </a: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Cleaned and preprocessed tweets using NLP and text-cleaning techniques.</a:t>
            </a: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</a:rPr>
              <a:t>Performed tokenization, stemming, </a:t>
            </a: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and stop-word removal for uniform text.</a:t>
            </a: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Converted processed text into numerical features using TF-IDF and </a:t>
            </a:r>
            <a:r>
              <a:rPr lang="en-US" sz="2800" dirty="0" err="1">
                <a:latin typeface="Cambria"/>
                <a:ea typeface="+mn-lt"/>
                <a:cs typeface="+mn-lt"/>
                <a:sym typeface="+mn-ea"/>
              </a:rPr>
              <a:t>CountVectorizer</a:t>
            </a: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.</a:t>
            </a: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</a:rPr>
              <a:t>Implemented machine-learning </a:t>
            </a: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models including Logistic Regression, Naïve Bayes, and KNN.</a:t>
            </a: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</a:rPr>
              <a:t>Evaluated </a:t>
            </a: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model performance using accuracy, precision, recall, and F1-score.</a:t>
            </a: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</a:rPr>
              <a:t>Compared algorithms to identify the most effective classification model</a:t>
            </a:r>
            <a:r>
              <a:rPr lang="en-US" sz="2800" dirty="0">
                <a:latin typeface="Cambria"/>
                <a:ea typeface="+mn-lt"/>
                <a:cs typeface="+mn-lt"/>
                <a:sym typeface="+mn-ea"/>
              </a:rPr>
              <a:t>.</a:t>
            </a: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</a:rPr>
              <a:t>Visualized data distributions and results using Matplotlib and Seaborn.</a:t>
            </a:r>
            <a:endParaRPr lang="en-US" sz="2800" dirty="0">
              <a:latin typeface="Cambria"/>
              <a:ea typeface="Calibri"/>
              <a:cs typeface="Calibri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</a:rPr>
              <a:t>Documented methodology, code, and results in a structured project report.</a:t>
            </a: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Cambria"/>
                <a:ea typeface="+mn-lt"/>
                <a:cs typeface="+mn-lt"/>
              </a:rPr>
              <a:t>Collaborated with mentors to enhance technical and professional skills.</a:t>
            </a: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/>
              <a:buChar char="•"/>
            </a:pPr>
            <a:endParaRPr lang="en-US" sz="26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mbria"/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>
              <a:latin typeface="Cambria" panose="02040503050406030204" charset="0"/>
              <a:ea typeface="Cambria"/>
              <a:cs typeface="Cambria" panose="02040503050406030204" charset="0"/>
            </a:endParaRPr>
          </a:p>
        </p:txBody>
      </p:sp>
      <p:pic>
        <p:nvPicPr>
          <p:cNvPr id="2" name="Picture 1" descr="crescent log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687" y="326335"/>
            <a:ext cx="2295525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-1225274" y="147651"/>
            <a:ext cx="10269220" cy="12649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6595"/>
              </a:lnSpc>
            </a:pP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ABOUT WORK / PROJECTS</a:t>
            </a:r>
          </a:p>
        </p:txBody>
      </p:sp>
      <p:graphicFrame>
        <p:nvGraphicFramePr>
          <p:cNvPr id="25" name="Table 24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2227703"/>
              </p:ext>
            </p:extLst>
          </p:nvPr>
        </p:nvGraphicFramePr>
        <p:xfrm>
          <a:off x="3263348" y="1590260"/>
          <a:ext cx="12357522" cy="812325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102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altLang="en-US" sz="2400" dirty="0">
                          <a:sym typeface="+mn-ea"/>
                        </a:rPr>
                        <a:t>PROJECT </a:t>
                      </a:r>
                      <a:r>
                        <a:rPr lang="en-IN" altLang="en-US" sz="2400" dirty="0"/>
                        <a:t>1</a:t>
                      </a:r>
                      <a:endParaRPr lang="en-US" altLang="en-US" sz="2400" dirty="0"/>
                    </a:p>
                    <a:p>
                      <a:pPr lvl="0" algn="ctr">
                        <a:buNone/>
                      </a:pPr>
                      <a:r>
                        <a:rPr lang="en-US" sz="2400" u="none" strike="noStrike" noProof="0" dirty="0"/>
                        <a:t>Disaster Tweet Classification</a:t>
                      </a:r>
                      <a:endParaRPr lang="en-US"/>
                    </a:p>
                    <a:p>
                      <a:pPr>
                        <a:buNone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300" dirty="0">
                          <a:solidFill>
                            <a:schemeClr val="tx1"/>
                          </a:solidFill>
                          <a:sym typeface="+mn-ea"/>
                        </a:rPr>
                        <a:t>Objective:</a:t>
                      </a:r>
                      <a:endParaRPr lang="en-US" altLang="en-US" sz="2300" dirty="0">
                        <a:solidFill>
                          <a:schemeClr val="tx1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i="0" u="none" strike="noStrike" noProof="0" dirty="0">
                          <a:latin typeface="Calibri"/>
                          <a:sym typeface="+mn-ea"/>
                        </a:rPr>
                        <a:t>To </a:t>
                      </a:r>
                      <a:r>
                        <a:rPr lang="en-US" sz="2300" b="0" i="0" u="none" strike="noStrike" noProof="0" dirty="0">
                          <a:latin typeface="Calibri"/>
                        </a:rPr>
                        <a:t>develop a machine learning model capable of classifying tweets as disaster-related or non-disaster using text data analysis </a:t>
                      </a:r>
                      <a:r>
                        <a:rPr lang="en-US" sz="2300" b="0" i="0" u="none" strike="noStrike" noProof="0" dirty="0">
                          <a:latin typeface="Calibri"/>
                          <a:sym typeface="+mn-ea"/>
                        </a:rPr>
                        <a:t>and </a:t>
                      </a:r>
                      <a:r>
                        <a:rPr lang="en-US" sz="2300" b="0" i="0" u="none" strike="noStrike" noProof="0" dirty="0">
                          <a:latin typeface="Calibri"/>
                        </a:rPr>
                        <a:t>NLP techniques.</a:t>
                      </a:r>
                      <a:endParaRPr lang="en-US" b="0" i="0" dirty="0">
                        <a:latin typeface="Calibr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u="none" strike="noStrike" noProof="0" dirty="0"/>
                        <a:t>Tools &amp; Technologies: </a:t>
                      </a:r>
                      <a:r>
                        <a:rPr lang="en-US" sz="2300" u="none" strike="noStrike" noProof="0" dirty="0">
                          <a:sym typeface="+mn-ea"/>
                        </a:rPr>
                        <a:t>Python</a:t>
                      </a:r>
                      <a:r>
                        <a:rPr lang="en-US" sz="2300" u="none" strike="noStrike" noProof="0" dirty="0"/>
                        <a:t>, NLTK, Scikit-learn, TF-IDF, Matplotlib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altLang="en-US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0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2300" dirty="0">
                          <a:solidFill>
                            <a:schemeClr val="tx1"/>
                          </a:solidFill>
                          <a:sym typeface="+mn-ea"/>
                        </a:rPr>
                        <a:t>Key </a:t>
                      </a:r>
                      <a:r>
                        <a:rPr lang="en-US" altLang="en-US" sz="2300" dirty="0">
                          <a:solidFill>
                            <a:schemeClr val="tx1"/>
                          </a:solidFill>
                        </a:rPr>
                        <a:t>Task: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b="0" i="0" u="none" strike="noStrike" noProof="0" dirty="0">
                          <a:latin typeface="Calibri"/>
                        </a:rPr>
                        <a:t>Performed data cleaning, preprocessing, and tokenization.</a:t>
                      </a: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b="0" i="0" u="none" strike="noStrike" noProof="0" dirty="0">
                          <a:latin typeface="Calibri"/>
                        </a:rPr>
                        <a:t>Applied stemming and removed noise such as URLs, emojis, and special characters.</a:t>
                      </a:r>
                      <a:endParaRPr lang="en-US" dirty="0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b="0" i="0" u="none" strike="noStrike" noProof="0" dirty="0">
                          <a:latin typeface="Calibri"/>
                        </a:rPr>
                        <a:t>Converted text to numerical features using </a:t>
                      </a:r>
                      <a:r>
                        <a:rPr lang="en-US" sz="2300" b="0" i="0" u="none" strike="noStrike" noProof="0" err="1">
                          <a:latin typeface="Calibri"/>
                        </a:rPr>
                        <a:t>CountVectorizer</a:t>
                      </a:r>
                      <a:r>
                        <a:rPr lang="en-US" sz="2300" b="0" i="0" u="none" strike="noStrike" noProof="0" dirty="0">
                          <a:latin typeface="Calibri"/>
                        </a:rPr>
                        <a:t> and TF-IDF.</a:t>
                      </a:r>
                      <a:endParaRPr lang="en-US" b="0" i="0" dirty="0">
                        <a:latin typeface="Calibri"/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b="0" i="0" u="none" strike="noStrike" noProof="0" dirty="0">
                          <a:latin typeface="Calibri"/>
                        </a:rPr>
                        <a:t>Trained multiple ML models like Logistic Regression, Naïve Bayes, and KNN.</a:t>
                      </a:r>
                      <a:endParaRPr lang="en-US" b="0" i="0" dirty="0">
                        <a:latin typeface="Calibri"/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b="0" i="0" u="none" strike="noStrike" noProof="0" dirty="0">
                          <a:latin typeface="Calibri"/>
                        </a:rPr>
                        <a:t>Evaluated accuracy and performance metrics to select the best model.</a:t>
                      </a:r>
                      <a:endParaRPr lang="en-US" b="0" i="0" dirty="0">
                        <a:latin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300" u="none" strike="noStrike" noProof="0" dirty="0"/>
                    </a:p>
                    <a:p>
                      <a:pPr>
                        <a:buNone/>
                      </a:pPr>
                      <a:endParaRPr lang="en-US" altLang="en-US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2300" dirty="0">
                          <a:solidFill>
                            <a:schemeClr val="tx1"/>
                          </a:solidFill>
                          <a:sym typeface="+mn-ea"/>
                        </a:rPr>
                        <a:t>Challenges Faced &amp; Solutions Implemented:</a:t>
                      </a:r>
                      <a:endParaRPr lang="en-US" altLang="en-US" sz="2300" dirty="0"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u="none" strike="noStrike" noProof="0" dirty="0"/>
                        <a:t>Noisy Text Data</a:t>
                      </a:r>
                      <a:r>
                        <a:rPr lang="en-US" sz="2300" u="none" strike="noStrike" noProof="0" dirty="0">
                          <a:sym typeface="+mn-ea"/>
                        </a:rPr>
                        <a:t>: </a:t>
                      </a:r>
                      <a:r>
                        <a:rPr lang="en-US" sz="2300" u="none" strike="noStrike" noProof="0" dirty="0"/>
                        <a:t>Hashtags &amp; links → Applied regex cleaning and stemming</a:t>
                      </a:r>
                      <a:r>
                        <a:rPr lang="en-US" sz="2300" u="none" strike="noStrike" noProof="0" dirty="0">
                          <a:sym typeface="+mn-ea"/>
                        </a:rPr>
                        <a:t>.</a:t>
                      </a:r>
                      <a:endParaRPr lang="en-US" sz="2300" u="none" strike="noStrike" noProof="0" dirty="0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u="none" strike="noStrike" noProof="0" dirty="0"/>
                        <a:t>Sparse Features</a:t>
                      </a:r>
                      <a:r>
                        <a:rPr lang="en-US" sz="2300" u="none" strike="noStrike" noProof="0" dirty="0">
                          <a:sym typeface="+mn-ea"/>
                        </a:rPr>
                        <a:t>: </a:t>
                      </a:r>
                      <a:r>
                        <a:rPr lang="en-US" sz="2300" u="none" strike="noStrike" noProof="0" dirty="0"/>
                        <a:t>High-dimensional text → Used TF-IDF Vectorization</a:t>
                      </a:r>
                      <a:r>
                        <a:rPr lang="en-US" sz="2300" u="none" strike="noStrike" noProof="0" dirty="0">
                          <a:sym typeface="+mn-ea"/>
                        </a:rPr>
                        <a:t>.</a:t>
                      </a:r>
                      <a:endParaRPr lang="en-US" u="none" strike="noStrike" noProof="0"/>
                    </a:p>
                    <a:p>
                      <a:pPr marL="342900" lvl="0" indent="-3429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2300" u="none" strike="noStrike" noProof="0" dirty="0"/>
                        <a:t>Model Accuracy</a:t>
                      </a:r>
                      <a:r>
                        <a:rPr lang="en-US" sz="2300" u="none" strike="noStrike" noProof="0" dirty="0">
                          <a:sym typeface="+mn-ea"/>
                        </a:rPr>
                        <a:t>: Inconsistent </a:t>
                      </a:r>
                      <a:r>
                        <a:rPr lang="en-US" sz="2300" u="none" strike="noStrike" noProof="0" dirty="0"/>
                        <a:t>results → Finalized TF-IDF + Logistic Regression (85%).</a:t>
                      </a:r>
                      <a:endParaRPr lang="en-US" dirty="0"/>
                    </a:p>
                    <a:p>
                      <a:pPr marL="0" lvl="0" indent="0">
                        <a:lnSpc>
                          <a:spcPct val="100000"/>
                        </a:lnSpc>
                        <a:buNone/>
                      </a:pPr>
                      <a:endParaRPr lang="en-US" altLang="en-US" sz="2300" dirty="0"/>
                    </a:p>
                    <a:p>
                      <a:pPr>
                        <a:buNone/>
                      </a:pPr>
                      <a:endParaRPr lang="en-US" altLang="en-US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Picture 1" descr="crescent logo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144162"/>
            <a:ext cx="2295525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0022" y="132522"/>
            <a:ext cx="6527800" cy="9969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1" indent="0" algn="l">
              <a:lnSpc>
                <a:spcPts val="7460"/>
              </a:lnSpc>
              <a:spcBef>
                <a:spcPct val="0"/>
              </a:spcBef>
            </a:pP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SOURCE CODE</a:t>
            </a:r>
            <a:endParaRPr lang="en-IN" altLang="en-US" sz="4400" b="1" dirty="0">
              <a:latin typeface="Poppins Bold" panose="00000800000000000000"/>
              <a:ea typeface="Poppins Bold" panose="00000800000000000000"/>
              <a:cs typeface="Poppins Bold" panose="00000800000000000000"/>
            </a:endParaRPr>
          </a:p>
        </p:txBody>
      </p:sp>
      <p:pic>
        <p:nvPicPr>
          <p:cNvPr id="3" name="Picture 2" descr="crescent log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114300"/>
            <a:ext cx="2295525" cy="619125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4F73E3A-5D6B-DD59-605F-487A035C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48" y="1670188"/>
            <a:ext cx="6141046" cy="7625788"/>
          </a:xfrm>
          <a:prstGeom prst="rect">
            <a:avLst/>
          </a:prstGeom>
        </p:spPr>
      </p:pic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2745DD7-80DC-641B-B9C0-AE6F0417A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703" y="1682198"/>
            <a:ext cx="5747535" cy="7634902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8C81632-1891-DFFB-CA97-1A365B3B3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6703" y="1671223"/>
            <a:ext cx="5245375" cy="7623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B6832B-FF03-3692-EAB5-0EDDD1E13828}"/>
              </a:ext>
            </a:extLst>
          </p:cNvPr>
          <p:cNvSpPr txBox="1"/>
          <p:nvPr/>
        </p:nvSpPr>
        <p:spPr>
          <a:xfrm>
            <a:off x="6252027" y="1059911"/>
            <a:ext cx="6272655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b="1" dirty="0">
                <a:latin typeface="Cambria"/>
                <a:ea typeface="Calibri"/>
                <a:cs typeface="Calibri"/>
              </a:rPr>
              <a:t>DISASTER TWEET CLASSIFICATION</a:t>
            </a:r>
            <a:endParaRPr lang="en-GB" sz="2400" b="1">
              <a:latin typeface="Cambria"/>
              <a:ea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6698" y="4816275"/>
            <a:ext cx="6914101" cy="94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5"/>
              </a:lnSpc>
              <a:spcBef>
                <a:spcPct val="0"/>
              </a:spcBef>
            </a:pPr>
            <a:endParaRPr lang="en-US" sz="1815" u="none" spc="10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455"/>
              </a:lnSpc>
              <a:spcBef>
                <a:spcPct val="0"/>
              </a:spcBef>
            </a:pPr>
            <a:endParaRPr lang="en-US" sz="1815" u="none" spc="10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455"/>
              </a:lnSpc>
              <a:spcBef>
                <a:spcPct val="0"/>
              </a:spcBef>
            </a:pPr>
            <a:endParaRPr lang="en-US" sz="1815" u="none" spc="109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6370" y="-171008"/>
            <a:ext cx="7112000" cy="16916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1095"/>
              </a:lnSpc>
            </a:pP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INTERNSHIP CERTIFICATE</a:t>
            </a:r>
            <a:endParaRPr lang="en-IN" altLang="en-US" sz="4400" b="1" dirty="0">
              <a:latin typeface="Poppins Bold" panose="00000800000000000000"/>
              <a:ea typeface="Poppins Bold" panose="00000800000000000000"/>
              <a:cs typeface="Poppins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27030" y="3931315"/>
            <a:ext cx="3563270" cy="40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endParaRPr lang="en-US" sz="29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Picture 2" descr="crescent log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0" y="342900"/>
            <a:ext cx="2295525" cy="619125"/>
          </a:xfrm>
          <a:prstGeom prst="rect">
            <a:avLst/>
          </a:prstGeom>
        </p:spPr>
      </p:pic>
      <p:pic>
        <p:nvPicPr>
          <p:cNvPr id="4" name="Picture 3" descr="A certificate of completion with purple lines&#10;&#10;AI-generated content may be incorrect.">
            <a:extLst>
              <a:ext uri="{FF2B5EF4-FFF2-40B4-BE49-F238E27FC236}">
                <a16:creationId xmlns:a16="http://schemas.microsoft.com/office/drawing/2014/main" id="{7DBDCC8C-493E-02AA-6089-D9BA39A4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168" y="1699591"/>
            <a:ext cx="11181527" cy="7887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-635" y="-251460"/>
            <a:ext cx="4531995" cy="16103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1280"/>
              </a:lnSpc>
            </a:pPr>
            <a:r>
              <a:rPr lang="en-IN" altLang="en-US" sz="4400" b="1" dirty="0"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21543" y="7331137"/>
            <a:ext cx="3558025" cy="31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130" b="1">
                <a:solidFill>
                  <a:srgbClr val="000000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21543" y="7739386"/>
            <a:ext cx="3431152" cy="23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65"/>
              </a:lnSpc>
              <a:spcBef>
                <a:spcPct val="0"/>
              </a:spcBef>
            </a:pPr>
            <a:r>
              <a:rPr lang="en-US" sz="1380" u="none" spc="8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-3755" y="851948"/>
            <a:ext cx="18009511" cy="89221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800" b="1" dirty="0">
                <a:latin typeface="Cambria"/>
                <a:ea typeface="Cambria"/>
                <a:cs typeface="Cambria" panose="02040503050406030204" charset="0"/>
              </a:rPr>
              <a:t>1. Summary of Overall Experience: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Gained strong practical exposure to </a:t>
            </a:r>
            <a:r>
              <a:rPr lang="en-US" sz="2600" b="1" dirty="0">
                <a:latin typeface="Cambria"/>
                <a:ea typeface="+mn-lt"/>
                <a:cs typeface="+mn-lt"/>
              </a:rPr>
              <a:t>Machine Learning and NLP</a:t>
            </a:r>
            <a:r>
              <a:rPr lang="en-US" sz="2600" dirty="0">
                <a:latin typeface="Cambria"/>
                <a:ea typeface="+mn-lt"/>
                <a:cs typeface="+mn-lt"/>
              </a:rPr>
              <a:t> through the Disaster Tweet Classification project.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Enhanced </a:t>
            </a:r>
            <a:r>
              <a:rPr lang="en-US" sz="2600" b="1" dirty="0">
                <a:latin typeface="Cambria"/>
                <a:ea typeface="+mn-lt"/>
                <a:cs typeface="+mn-lt"/>
              </a:rPr>
              <a:t>technical, analytical, and problem-solving skills</a:t>
            </a:r>
            <a:r>
              <a:rPr lang="en-US" sz="2600" dirty="0">
                <a:latin typeface="Cambria"/>
                <a:ea typeface="+mn-lt"/>
                <a:cs typeface="+mn-lt"/>
              </a:rPr>
              <a:t> by implementing end-to-end data science workflows.</a:t>
            </a:r>
            <a:endParaRPr lang="en-US" sz="2600">
              <a:latin typeface="Cambria"/>
              <a:ea typeface="Cambria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Developed better </a:t>
            </a:r>
            <a:r>
              <a:rPr lang="en-US" sz="2600" b="1" dirty="0">
                <a:latin typeface="Cambria"/>
                <a:ea typeface="+mn-lt"/>
                <a:cs typeface="+mn-lt"/>
              </a:rPr>
              <a:t>professional communication, documentation, and project presentation</a:t>
            </a:r>
            <a:r>
              <a:rPr lang="en-US" sz="2600" dirty="0">
                <a:latin typeface="Cambria"/>
                <a:ea typeface="+mn-lt"/>
                <a:cs typeface="+mn-lt"/>
              </a:rPr>
              <a:t> abilities through mentor guidance</a:t>
            </a:r>
            <a:r>
              <a:rPr lang="en-US" sz="2600" dirty="0">
                <a:ea typeface="+mn-lt"/>
                <a:cs typeface="+mn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latin typeface="Cambria"/>
                <a:ea typeface="Cambria"/>
                <a:cs typeface="Cambria" panose="02040503050406030204" charset="0"/>
              </a:rPr>
              <a:t>2. Future Applications of Knowledge Gained: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Can be applied to </a:t>
            </a:r>
            <a:r>
              <a:rPr lang="en-US" sz="2600" b="1" dirty="0">
                <a:latin typeface="Cambria"/>
                <a:ea typeface="+mn-lt"/>
                <a:cs typeface="+mn-lt"/>
              </a:rPr>
              <a:t>real-time social media monitoring</a:t>
            </a:r>
            <a:r>
              <a:rPr lang="en-US" sz="2600" dirty="0">
                <a:latin typeface="Cambria"/>
                <a:ea typeface="+mn-lt"/>
                <a:cs typeface="+mn-lt"/>
              </a:rPr>
              <a:t> for detecting and responding to disaster events quickly.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The NLP and ML concepts learned can be extended to </a:t>
            </a:r>
            <a:r>
              <a:rPr lang="en-US" sz="2600" b="1" dirty="0">
                <a:latin typeface="Cambria"/>
                <a:ea typeface="+mn-lt"/>
                <a:cs typeface="+mn-lt"/>
              </a:rPr>
              <a:t>sentiment analysis, spam detection, and emergency response systems</a:t>
            </a:r>
            <a:r>
              <a:rPr lang="en-US" sz="2600" dirty="0">
                <a:latin typeface="Cambria"/>
                <a:ea typeface="+mn-lt"/>
                <a:cs typeface="+mn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600" dirty="0">
                <a:latin typeface="Cambria"/>
                <a:ea typeface="+mn-lt"/>
                <a:cs typeface="+mn-lt"/>
              </a:rPr>
              <a:t>Provides a foundation for developing </a:t>
            </a:r>
            <a:r>
              <a:rPr lang="en-US" sz="2600" b="1" dirty="0">
                <a:latin typeface="Cambria"/>
                <a:ea typeface="+mn-lt"/>
                <a:cs typeface="+mn-lt"/>
              </a:rPr>
              <a:t>advanced AI models</a:t>
            </a:r>
            <a:r>
              <a:rPr lang="en-US" sz="2600" dirty="0">
                <a:latin typeface="Cambria"/>
                <a:ea typeface="+mn-lt"/>
                <a:cs typeface="+mn-lt"/>
              </a:rPr>
              <a:t> like BERT or deep learning-based text classifiers for higher accuracy.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latin typeface="Cambria"/>
                <a:ea typeface="Cambria"/>
                <a:cs typeface="Cambria" panose="02040503050406030204" charset="0"/>
              </a:rPr>
              <a:t>3. Expression of Gratitude:</a:t>
            </a:r>
            <a:endParaRPr lang="en-US" sz="2800" dirty="0"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Heartfelt thanks to </a:t>
            </a:r>
            <a:r>
              <a:rPr lang="en-US" sz="2800" b="1" err="1">
                <a:ea typeface="+mn-lt"/>
                <a:cs typeface="+mn-lt"/>
              </a:rPr>
              <a:t>SkillForge</a:t>
            </a:r>
            <a:r>
              <a:rPr lang="en-US" sz="2800" b="1" dirty="0">
                <a:ea typeface="+mn-lt"/>
                <a:cs typeface="+mn-lt"/>
              </a:rPr>
              <a:t> Pvt. Ltd.</a:t>
            </a:r>
            <a:r>
              <a:rPr lang="en-US" sz="2800" dirty="0">
                <a:ea typeface="+mn-lt"/>
                <a:cs typeface="+mn-lt"/>
              </a:rPr>
              <a:t> for the valuable internship opportunity.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Sincere gratitude to </a:t>
            </a:r>
            <a:r>
              <a:rPr lang="en-US" sz="2800" b="1" dirty="0">
                <a:ea typeface="+mn-lt"/>
                <a:cs typeface="+mn-lt"/>
              </a:rPr>
              <a:t>Mrs. R. Sivasankari</a:t>
            </a:r>
            <a:r>
              <a:rPr lang="en-US" sz="2800" dirty="0">
                <a:ea typeface="+mn-lt"/>
                <a:cs typeface="+mn-lt"/>
              </a:rPr>
              <a:t>, Faculty Mentor, for her constant guidance and support.</a:t>
            </a:r>
            <a:endParaRPr lang="en-US" dirty="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Appreciation to all </a:t>
            </a:r>
            <a:r>
              <a:rPr lang="en-US" sz="2800" b="1" err="1">
                <a:ea typeface="+mn-lt"/>
                <a:cs typeface="+mn-lt"/>
              </a:rPr>
              <a:t>SkillForge</a:t>
            </a:r>
            <a:r>
              <a:rPr lang="en-US" sz="2800" b="1" dirty="0">
                <a:ea typeface="+mn-lt"/>
                <a:cs typeface="+mn-lt"/>
              </a:rPr>
              <a:t> mentors and Crescent faculty</a:t>
            </a:r>
            <a:r>
              <a:rPr lang="en-US" sz="2800" dirty="0">
                <a:ea typeface="+mn-lt"/>
                <a:cs typeface="+mn-lt"/>
              </a:rPr>
              <a:t> for their encouragement throughout the project journey.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800" dirty="0">
              <a:ea typeface="Calibri"/>
              <a:cs typeface="Calibri"/>
            </a:endParaRPr>
          </a:p>
        </p:txBody>
      </p:sp>
      <p:pic>
        <p:nvPicPr>
          <p:cNvPr id="2" name="Picture 1" descr="crescent log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0" y="244475"/>
            <a:ext cx="2295525" cy="6191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8.6932283464567,&quot;left&quot;:103.29944881889764,&quot;top&quot;:195.7764566929134,&quot;width&quot;:1246.948110236220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18*692"/>
  <p:tag name="TABLE_ENDDRAG_RECT" val="69*87*1318*69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Custom</PresentationFormat>
  <Paragraphs>83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Poppins Semi-Bold</vt:lpstr>
      <vt:lpstr>Arial</vt:lpstr>
      <vt:lpstr>DM Sans</vt:lpstr>
      <vt:lpstr>Poppins</vt:lpstr>
      <vt:lpstr>Arial,Sans-Serif</vt:lpstr>
      <vt:lpstr>Poppins Bold</vt:lpstr>
      <vt:lpstr>Cambria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Project Presentation</dc:title>
  <dc:creator>harsha varthanan</dc:creator>
  <cp:lastModifiedBy>harsha varthanan</cp:lastModifiedBy>
  <cp:revision>596</cp:revision>
  <dcterms:created xsi:type="dcterms:W3CDTF">2006-08-16T00:00:00Z</dcterms:created>
  <dcterms:modified xsi:type="dcterms:W3CDTF">2025-11-24T03:46:07Z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0500CB2463AF4AA58A35462733F2E567_13</vt:lpwstr>
  </property>
  <property fmtid="{D5CDD505-2E9C-101B-9397-08002B2CF9AE}" pid="3" name="KSOProductBuildVer">
    <vt:lpwstr>1033-12.2.0.23155</vt:lpwstr>
  </property>
</Properties>
</file>